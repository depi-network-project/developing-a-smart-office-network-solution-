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6" r:id="rId14"/>
    <p:sldId id="267" r:id="rId15"/>
    <p:sldId id="268" r:id="rId16"/>
    <p:sldId id="269" r:id="rId17"/>
    <p:sldId id="270" r:id="rId18"/>
    <p:sldId id="271" r:id="rId19"/>
    <p:sldId id="272" r:id="rId20"/>
    <p:sldId id="273" r:id="rId21"/>
    <p:sldId id="278" r:id="rId22"/>
    <p:sldId id="274" r:id="rId23"/>
    <p:sldId id="275" r:id="rId24"/>
    <p:sldId id="276" r:id="rId25"/>
    <p:sldId id="27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0A29F7-E04B-45EE-AB33-1F4608FB318A}" v="5" dt="2025-05-18T10:30:57.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6" autoAdjust="0"/>
    <p:restoredTop sz="94660"/>
  </p:normalViewPr>
  <p:slideViewPr>
    <p:cSldViewPr snapToGrid="0">
      <p:cViewPr varScale="1">
        <p:scale>
          <a:sx n="63" d="100"/>
          <a:sy n="63" d="100"/>
        </p:scale>
        <p:origin x="5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5/18/2025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Developing a Smart Office Network Solution </a:t>
            </a:r>
          </a:p>
        </p:txBody>
      </p:sp>
      <p:sp>
        <p:nvSpPr>
          <p:cNvPr id="3" name="Subtitle 2"/>
          <p:cNvSpPr>
            <a:spLocks noGrp="1"/>
          </p:cNvSpPr>
          <p:nvPr>
            <p:ph type="subTitle" idx="1"/>
          </p:nvPr>
        </p:nvSpPr>
        <p:spPr/>
        <p:txBody>
          <a:bodyPr>
            <a:normAutofit/>
          </a:bodyPr>
          <a:lstStyle/>
          <a:p>
            <a:r>
              <a:rPr lang="en-US" dirty="0"/>
              <a:t>Mai </a:t>
            </a:r>
            <a:r>
              <a:rPr lang="en-US" dirty="0" err="1"/>
              <a:t>Emad-Eldeen</a:t>
            </a:r>
            <a:r>
              <a:rPr lang="en-US" dirty="0"/>
              <a:t> </a:t>
            </a:r>
            <a:r>
              <a:rPr lang="en-US" dirty="0" err="1"/>
              <a:t>Mesllam</a:t>
            </a:r>
            <a:r>
              <a:rPr lang="en-US" dirty="0"/>
              <a:t> </a:t>
            </a:r>
          </a:p>
          <a:p>
            <a:r>
              <a:rPr lang="en-US" dirty="0" err="1"/>
              <a:t>Manal</a:t>
            </a:r>
            <a:r>
              <a:rPr lang="en-US" dirty="0"/>
              <a:t> Nabil </a:t>
            </a:r>
            <a:r>
              <a:rPr lang="en-US" dirty="0" err="1"/>
              <a:t>Donia</a:t>
            </a:r>
            <a:endParaRPr lang="en-US" dirty="0"/>
          </a:p>
          <a:p>
            <a:r>
              <a:rPr lang="en-US" dirty="0"/>
              <a:t>Mohamed Hamza Ahmed</a:t>
            </a:r>
          </a:p>
        </p:txBody>
      </p:sp>
    </p:spTree>
    <p:extLst>
      <p:ext uri="{BB962C8B-B14F-4D97-AF65-F5344CB8AC3E}">
        <p14:creationId xmlns:p14="http://schemas.microsoft.com/office/powerpoint/2010/main" val="1202115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19292" y="1668565"/>
            <a:ext cx="8001000" cy="2971801"/>
          </a:xfrm>
        </p:spPr>
        <p:txBody>
          <a:bodyPr>
            <a:normAutofit/>
          </a:bodyPr>
          <a:lstStyle/>
          <a:p>
            <a:r>
              <a:rPr lang="en-US" sz="1400" dirty="0"/>
              <a:t>We propose a secure and scalable Smart Office Network for </a:t>
            </a:r>
            <a:r>
              <a:rPr lang="en-US" sz="1400" dirty="0" err="1"/>
              <a:t>ByteWave</a:t>
            </a:r>
            <a:r>
              <a:rPr lang="en-US" sz="1400" dirty="0"/>
              <a:t> Technologies, a software development company. The network is designed to:</a:t>
            </a:r>
            <a:br>
              <a:rPr lang="en-US" sz="1400" dirty="0"/>
            </a:br>
            <a:br>
              <a:rPr lang="en-US" sz="1400" dirty="0"/>
            </a:br>
            <a:r>
              <a:rPr lang="en-US" sz="1400" dirty="0"/>
              <a:t>Ensure high performance and reliable connectivity</a:t>
            </a:r>
            <a:br>
              <a:rPr lang="en-US" sz="1400" dirty="0"/>
            </a:br>
            <a:br>
              <a:rPr lang="en-US" sz="1400" dirty="0"/>
            </a:br>
            <a:r>
              <a:rPr lang="en-US" sz="1400" dirty="0"/>
              <a:t>Support </a:t>
            </a:r>
            <a:r>
              <a:rPr lang="en-US" sz="1400" dirty="0" err="1"/>
              <a:t>IoT</a:t>
            </a:r>
            <a:r>
              <a:rPr lang="en-US" sz="1400" dirty="0"/>
              <a:t> integration (smart lighting, climate control, security systems)</a:t>
            </a:r>
            <a:br>
              <a:rPr lang="en-US" sz="1400" dirty="0"/>
            </a:br>
            <a:br>
              <a:rPr lang="en-US" sz="1400" dirty="0"/>
            </a:br>
            <a:r>
              <a:rPr lang="en-US" sz="1400" dirty="0"/>
              <a:t>Enhance productivity, collaboration, and employee comfort</a:t>
            </a:r>
            <a:br>
              <a:rPr lang="en-US" sz="1400" dirty="0"/>
            </a:br>
            <a:br>
              <a:rPr lang="en-US" sz="1400" dirty="0"/>
            </a:br>
            <a:r>
              <a:rPr lang="en-US" sz="1400" dirty="0"/>
              <a:t>Provide advanced security (VPN, Zero Trust)</a:t>
            </a:r>
            <a:br>
              <a:rPr lang="en-US" sz="1400" dirty="0"/>
            </a:br>
            <a:br>
              <a:rPr lang="en-US" sz="1400" dirty="0"/>
            </a:br>
            <a:r>
              <a:rPr lang="en-US" sz="1400" dirty="0"/>
              <a:t>Allow remote monitoring and future scalability</a:t>
            </a:r>
          </a:p>
        </p:txBody>
      </p:sp>
      <p:sp>
        <p:nvSpPr>
          <p:cNvPr id="5" name="Subtitle 4"/>
          <p:cNvSpPr>
            <a:spLocks noGrp="1"/>
          </p:cNvSpPr>
          <p:nvPr>
            <p:ph type="subTitle" idx="1"/>
          </p:nvPr>
        </p:nvSpPr>
        <p:spPr>
          <a:xfrm>
            <a:off x="419292" y="536644"/>
            <a:ext cx="6400800" cy="1947333"/>
          </a:xfrm>
        </p:spPr>
        <p:txBody>
          <a:bodyPr/>
          <a:lstStyle/>
          <a:p>
            <a:r>
              <a:rPr lang="en-US" b="1" dirty="0">
                <a:solidFill>
                  <a:schemeClr val="tx1"/>
                </a:solidFill>
              </a:rPr>
              <a:t>💡 Project Overview:</a:t>
            </a:r>
          </a:p>
          <a:p>
            <a:endParaRPr lang="en-US" dirty="0"/>
          </a:p>
        </p:txBody>
      </p:sp>
    </p:spTree>
    <p:extLst>
      <p:ext uri="{BB962C8B-B14F-4D97-AF65-F5344CB8AC3E}">
        <p14:creationId xmlns:p14="http://schemas.microsoft.com/office/powerpoint/2010/main" val="17402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033" y="412334"/>
            <a:ext cx="8534400" cy="1507067"/>
          </a:xfrm>
        </p:spPr>
        <p:txBody>
          <a:bodyPr/>
          <a:lstStyle/>
          <a:p>
            <a:r>
              <a:rPr lang="en-US" dirty="0"/>
              <a:t>Network diagram</a:t>
            </a:r>
          </a:p>
        </p:txBody>
      </p:sp>
      <p:pic>
        <p:nvPicPr>
          <p:cNvPr id="5" name="Content Placeholder 4">
            <a:extLst>
              <a:ext uri="{FF2B5EF4-FFF2-40B4-BE49-F238E27FC236}">
                <a16:creationId xmlns:a16="http://schemas.microsoft.com/office/drawing/2014/main" id="{7901D20E-D5F9-02F6-18C0-BD758AA1D31E}"/>
              </a:ext>
            </a:extLst>
          </p:cNvPr>
          <p:cNvPicPr>
            <a:picLocks noGrp="1" noChangeAspect="1"/>
          </p:cNvPicPr>
          <p:nvPr>
            <p:ph idx="1"/>
          </p:nvPr>
        </p:nvPicPr>
        <p:blipFill>
          <a:blip r:embed="rId2"/>
          <a:stretch>
            <a:fillRect/>
          </a:stretch>
        </p:blipFill>
        <p:spPr>
          <a:xfrm>
            <a:off x="744538" y="2693676"/>
            <a:ext cx="8534400" cy="3548686"/>
          </a:xfrm>
        </p:spPr>
      </p:pic>
    </p:spTree>
    <p:extLst>
      <p:ext uri="{BB962C8B-B14F-4D97-AF65-F5344CB8AC3E}">
        <p14:creationId xmlns:p14="http://schemas.microsoft.com/office/powerpoint/2010/main" val="4035684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Topology Components</a:t>
            </a: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2943972055"/>
              </p:ext>
            </p:extLst>
          </p:nvPr>
        </p:nvGraphicFramePr>
        <p:xfrm>
          <a:off x="684213" y="685800"/>
          <a:ext cx="8534400" cy="33832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32456">
                <a:tc>
                  <a:txBody>
                    <a:bodyPr/>
                    <a:lstStyle/>
                    <a:p>
                      <a:r>
                        <a:rPr lang="en-US" dirty="0"/>
                        <a:t>Component</a:t>
                      </a:r>
                    </a:p>
                  </a:txBody>
                  <a:tcPr/>
                </a:tc>
                <a:tc>
                  <a:txBody>
                    <a:bodyPr/>
                    <a:lstStyle/>
                    <a:p>
                      <a:r>
                        <a:rPr lang="en-US" dirty="0"/>
                        <a:t>Description</a:t>
                      </a:r>
                    </a:p>
                  </a:txBody>
                  <a:tcPr/>
                </a:tc>
                <a:extLst>
                  <a:ext uri="{0D108BD9-81ED-4DB2-BD59-A6C34878D82A}">
                    <a16:rowId xmlns:a16="http://schemas.microsoft.com/office/drawing/2014/main" val="10000"/>
                  </a:ext>
                </a:extLst>
              </a:tr>
              <a:tr h="332456">
                <a:tc>
                  <a:txBody>
                    <a:bodyPr/>
                    <a:lstStyle/>
                    <a:p>
                      <a:r>
                        <a:rPr lang="en-US" dirty="0"/>
                        <a:t>Core Layer 3 Switches </a:t>
                      </a:r>
                    </a:p>
                  </a:txBody>
                  <a:tcPr/>
                </a:tc>
                <a:tc>
                  <a:txBody>
                    <a:bodyPr/>
                    <a:lstStyle/>
                    <a:p>
                      <a:r>
                        <a:rPr lang="en-US" dirty="0"/>
                        <a:t>Handle inter-VLAN routing and HSRP </a:t>
                      </a:r>
                    </a:p>
                  </a:txBody>
                  <a:tcPr/>
                </a:tc>
                <a:extLst>
                  <a:ext uri="{0D108BD9-81ED-4DB2-BD59-A6C34878D82A}">
                    <a16:rowId xmlns:a16="http://schemas.microsoft.com/office/drawing/2014/main" val="10001"/>
                  </a:ext>
                </a:extLst>
              </a:tr>
              <a:tr h="573829">
                <a:tc>
                  <a:txBody>
                    <a:bodyPr/>
                    <a:lstStyle/>
                    <a:p>
                      <a:r>
                        <a:rPr lang="en-US" dirty="0"/>
                        <a:t>Access Layer 2 Switches </a:t>
                      </a:r>
                    </a:p>
                  </a:txBody>
                  <a:tcPr/>
                </a:tc>
                <a:tc>
                  <a:txBody>
                    <a:bodyPr/>
                    <a:lstStyle/>
                    <a:p>
                      <a:r>
                        <a:rPr lang="en-US" dirty="0"/>
                        <a:t>Connect end devices with VLAN tagging</a:t>
                      </a:r>
                    </a:p>
                  </a:txBody>
                  <a:tcPr/>
                </a:tc>
                <a:extLst>
                  <a:ext uri="{0D108BD9-81ED-4DB2-BD59-A6C34878D82A}">
                    <a16:rowId xmlns:a16="http://schemas.microsoft.com/office/drawing/2014/main" val="10002"/>
                  </a:ext>
                </a:extLst>
              </a:tr>
              <a:tr h="573829">
                <a:tc>
                  <a:txBody>
                    <a:bodyPr/>
                    <a:lstStyle/>
                    <a:p>
                      <a:r>
                        <a:rPr lang="en-US" dirty="0"/>
                        <a:t>Router</a:t>
                      </a:r>
                    </a:p>
                  </a:txBody>
                  <a:tcPr/>
                </a:tc>
                <a:tc>
                  <a:txBody>
                    <a:bodyPr/>
                    <a:lstStyle/>
                    <a:p>
                      <a:r>
                        <a:rPr lang="en-US" dirty="0"/>
                        <a:t>NAT, VPN termination, and ISP connectivity</a:t>
                      </a:r>
                    </a:p>
                  </a:txBody>
                  <a:tcPr/>
                </a:tc>
                <a:extLst>
                  <a:ext uri="{0D108BD9-81ED-4DB2-BD59-A6C34878D82A}">
                    <a16:rowId xmlns:a16="http://schemas.microsoft.com/office/drawing/2014/main" val="10003"/>
                  </a:ext>
                </a:extLst>
              </a:tr>
              <a:tr h="332456">
                <a:tc>
                  <a:txBody>
                    <a:bodyPr/>
                    <a:lstStyle/>
                    <a:p>
                      <a:r>
                        <a:rPr lang="en-US" dirty="0" err="1"/>
                        <a:t>IoT</a:t>
                      </a:r>
                      <a:r>
                        <a:rPr lang="en-US" dirty="0"/>
                        <a:t> Devices</a:t>
                      </a:r>
                    </a:p>
                  </a:txBody>
                  <a:tcPr/>
                </a:tc>
                <a:tc>
                  <a:txBody>
                    <a:bodyPr/>
                    <a:lstStyle/>
                    <a:p>
                      <a:r>
                        <a:rPr lang="en-US" dirty="0"/>
                        <a:t>Smart lights, sensors, cameras</a:t>
                      </a:r>
                    </a:p>
                  </a:txBody>
                  <a:tcPr/>
                </a:tc>
                <a:extLst>
                  <a:ext uri="{0D108BD9-81ED-4DB2-BD59-A6C34878D82A}">
                    <a16:rowId xmlns:a16="http://schemas.microsoft.com/office/drawing/2014/main" val="10004"/>
                  </a:ext>
                </a:extLst>
              </a:tr>
              <a:tr h="573829">
                <a:tc>
                  <a:txBody>
                    <a:bodyPr/>
                    <a:lstStyle/>
                    <a:p>
                      <a:r>
                        <a:rPr lang="en-US" dirty="0"/>
                        <a:t>Wireless APs</a:t>
                      </a:r>
                    </a:p>
                  </a:txBody>
                  <a:tcPr/>
                </a:tc>
                <a:tc>
                  <a:txBody>
                    <a:bodyPr/>
                    <a:lstStyle/>
                    <a:p>
                      <a:r>
                        <a:rPr lang="en-US" dirty="0"/>
                        <a:t>Guest and employee wireless access</a:t>
                      </a:r>
                    </a:p>
                  </a:txBody>
                  <a:tcPr/>
                </a:tc>
                <a:extLst>
                  <a:ext uri="{0D108BD9-81ED-4DB2-BD59-A6C34878D82A}">
                    <a16:rowId xmlns:a16="http://schemas.microsoft.com/office/drawing/2014/main" val="10005"/>
                  </a:ext>
                </a:extLst>
              </a:tr>
              <a:tr h="332456">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022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VLANS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672256"/>
              </p:ext>
            </p:extLst>
          </p:nvPr>
        </p:nvGraphicFramePr>
        <p:xfrm>
          <a:off x="684213" y="685800"/>
          <a:ext cx="8534400" cy="249428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370840">
                <a:tc>
                  <a:txBody>
                    <a:bodyPr/>
                    <a:lstStyle/>
                    <a:p>
                      <a:r>
                        <a:rPr lang="en-US" dirty="0"/>
                        <a:t>VLAN ID </a:t>
                      </a:r>
                    </a:p>
                  </a:txBody>
                  <a:tcPr/>
                </a:tc>
                <a:tc>
                  <a:txBody>
                    <a:bodyPr/>
                    <a:lstStyle/>
                    <a:p>
                      <a:r>
                        <a:rPr lang="en-US" dirty="0"/>
                        <a:t>Name</a:t>
                      </a:r>
                    </a:p>
                  </a:txBody>
                  <a:tcPr/>
                </a:tc>
                <a:tc>
                  <a:txBody>
                    <a:bodyPr/>
                    <a:lstStyle/>
                    <a:p>
                      <a:r>
                        <a:rPr lang="en-US" dirty="0"/>
                        <a:t>IP Range</a:t>
                      </a:r>
                    </a:p>
                  </a:txBody>
                  <a:tcPr/>
                </a:tc>
                <a:tc>
                  <a:txBody>
                    <a:bodyPr/>
                    <a:lstStyle/>
                    <a:p>
                      <a:r>
                        <a:rPr lang="en-US" dirty="0"/>
                        <a:t>Purpose</a:t>
                      </a:r>
                    </a:p>
                  </a:txBody>
                  <a:tcPr/>
                </a:tc>
                <a:extLst>
                  <a:ext uri="{0D108BD9-81ED-4DB2-BD59-A6C34878D82A}">
                    <a16:rowId xmlns:a16="http://schemas.microsoft.com/office/drawing/2014/main" val="10000"/>
                  </a:ext>
                </a:extLst>
              </a:tr>
              <a:tr h="370840">
                <a:tc>
                  <a:txBody>
                    <a:bodyPr/>
                    <a:lstStyle/>
                    <a:p>
                      <a:r>
                        <a:rPr lang="en-US" dirty="0"/>
                        <a:t>10</a:t>
                      </a:r>
                    </a:p>
                  </a:txBody>
                  <a:tcPr/>
                </a:tc>
                <a:tc>
                  <a:txBody>
                    <a:bodyPr/>
                    <a:lstStyle/>
                    <a:p>
                      <a:r>
                        <a:rPr lang="en-US" dirty="0"/>
                        <a:t>IT</a:t>
                      </a:r>
                    </a:p>
                  </a:txBody>
                  <a:tcPr/>
                </a:tc>
                <a:tc>
                  <a:txBody>
                    <a:bodyPr/>
                    <a:lstStyle/>
                    <a:p>
                      <a:r>
                        <a:rPr lang="en-US" dirty="0"/>
                        <a:t>192.168.10.0/24 </a:t>
                      </a:r>
                    </a:p>
                  </a:txBody>
                  <a:tcPr/>
                </a:tc>
                <a:tc>
                  <a:txBody>
                    <a:bodyPr/>
                    <a:lstStyle/>
                    <a:p>
                      <a:r>
                        <a:rPr lang="en-US" dirty="0"/>
                        <a:t>IT PCs</a:t>
                      </a:r>
                    </a:p>
                  </a:txBody>
                  <a:tcPr/>
                </a:tc>
                <a:extLst>
                  <a:ext uri="{0D108BD9-81ED-4DB2-BD59-A6C34878D82A}">
                    <a16:rowId xmlns:a16="http://schemas.microsoft.com/office/drawing/2014/main" val="10001"/>
                  </a:ext>
                </a:extLst>
              </a:tr>
              <a:tr h="370840">
                <a:tc>
                  <a:txBody>
                    <a:bodyPr/>
                    <a:lstStyle/>
                    <a:p>
                      <a:r>
                        <a:rPr lang="en-US" dirty="0"/>
                        <a:t>20</a:t>
                      </a:r>
                    </a:p>
                  </a:txBody>
                  <a:tcPr/>
                </a:tc>
                <a:tc>
                  <a:txBody>
                    <a:bodyPr/>
                    <a:lstStyle/>
                    <a:p>
                      <a:r>
                        <a:rPr lang="en-US" dirty="0"/>
                        <a:t>Employees</a:t>
                      </a:r>
                    </a:p>
                  </a:txBody>
                  <a:tcPr/>
                </a:tc>
                <a:tc>
                  <a:txBody>
                    <a:bodyPr/>
                    <a:lstStyle/>
                    <a:p>
                      <a:r>
                        <a:rPr lang="en-US" dirty="0"/>
                        <a:t>192.168.20.0/24 </a:t>
                      </a:r>
                    </a:p>
                  </a:txBody>
                  <a:tcPr/>
                </a:tc>
                <a:tc>
                  <a:txBody>
                    <a:bodyPr/>
                    <a:lstStyle/>
                    <a:p>
                      <a:r>
                        <a:rPr lang="en-US" dirty="0"/>
                        <a:t>Office PCs &amp; Phones</a:t>
                      </a:r>
                    </a:p>
                  </a:txBody>
                  <a:tcPr/>
                </a:tc>
                <a:extLst>
                  <a:ext uri="{0D108BD9-81ED-4DB2-BD59-A6C34878D82A}">
                    <a16:rowId xmlns:a16="http://schemas.microsoft.com/office/drawing/2014/main" val="10002"/>
                  </a:ext>
                </a:extLst>
              </a:tr>
              <a:tr h="370840">
                <a:tc>
                  <a:txBody>
                    <a:bodyPr/>
                    <a:lstStyle/>
                    <a:p>
                      <a:r>
                        <a:rPr lang="en-US" dirty="0"/>
                        <a:t>30</a:t>
                      </a:r>
                    </a:p>
                  </a:txBody>
                  <a:tcPr/>
                </a:tc>
                <a:tc>
                  <a:txBody>
                    <a:bodyPr/>
                    <a:lstStyle/>
                    <a:p>
                      <a:r>
                        <a:rPr lang="en-US" dirty="0" err="1"/>
                        <a:t>IoT</a:t>
                      </a:r>
                      <a:endParaRPr lang="en-US" dirty="0"/>
                    </a:p>
                  </a:txBody>
                  <a:tcPr/>
                </a:tc>
                <a:tc>
                  <a:txBody>
                    <a:bodyPr/>
                    <a:lstStyle/>
                    <a:p>
                      <a:r>
                        <a:rPr lang="en-US" dirty="0"/>
                        <a:t>192.168.30.0/24 </a:t>
                      </a:r>
                    </a:p>
                  </a:txBody>
                  <a:tcPr/>
                </a:tc>
                <a:tc>
                  <a:txBody>
                    <a:bodyPr/>
                    <a:lstStyle/>
                    <a:p>
                      <a:r>
                        <a:rPr lang="en-US" dirty="0"/>
                        <a:t>Smart Devices</a:t>
                      </a:r>
                    </a:p>
                  </a:txBody>
                  <a:tcPr/>
                </a:tc>
                <a:extLst>
                  <a:ext uri="{0D108BD9-81ED-4DB2-BD59-A6C34878D82A}">
                    <a16:rowId xmlns:a16="http://schemas.microsoft.com/office/drawing/2014/main" val="10003"/>
                  </a:ext>
                </a:extLst>
              </a:tr>
              <a:tr h="370840">
                <a:tc>
                  <a:txBody>
                    <a:bodyPr/>
                    <a:lstStyle/>
                    <a:p>
                      <a:r>
                        <a:rPr lang="en-US" dirty="0"/>
                        <a:t>40</a:t>
                      </a:r>
                    </a:p>
                  </a:txBody>
                  <a:tcPr/>
                </a:tc>
                <a:tc>
                  <a:txBody>
                    <a:bodyPr/>
                    <a:lstStyle/>
                    <a:p>
                      <a:r>
                        <a:rPr lang="en-US" dirty="0"/>
                        <a:t>Guest</a:t>
                      </a:r>
                    </a:p>
                  </a:txBody>
                  <a:tcPr/>
                </a:tc>
                <a:tc>
                  <a:txBody>
                    <a:bodyPr/>
                    <a:lstStyle/>
                    <a:p>
                      <a:r>
                        <a:rPr lang="en-US" dirty="0"/>
                        <a:t>192.168.40.0/24 </a:t>
                      </a:r>
                    </a:p>
                  </a:txBody>
                  <a:tcPr/>
                </a:tc>
                <a:tc>
                  <a:txBody>
                    <a:bodyPr/>
                    <a:lstStyle/>
                    <a:p>
                      <a:r>
                        <a:rPr lang="en-US" dirty="0"/>
                        <a:t>Guest access</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Data Center</a:t>
                      </a:r>
                    </a:p>
                  </a:txBody>
                  <a:tcPr/>
                </a:tc>
                <a:tc>
                  <a:txBody>
                    <a:bodyPr/>
                    <a:lstStyle/>
                    <a:p>
                      <a:r>
                        <a:rPr lang="en-US" dirty="0"/>
                        <a:t>192.168.50.0/24 </a:t>
                      </a:r>
                    </a:p>
                  </a:txBody>
                  <a:tcPr/>
                </a:tc>
                <a:tc>
                  <a:txBody>
                    <a:bodyPr/>
                    <a:lstStyle/>
                    <a:p>
                      <a:r>
                        <a:rPr lang="en-US" dirty="0"/>
                        <a:t>Servers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22855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Protocols &amp; Technologies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32254619"/>
              </p:ext>
            </p:extLst>
          </p:nvPr>
        </p:nvGraphicFramePr>
        <p:xfrm>
          <a:off x="684213" y="685800"/>
          <a:ext cx="8534400" cy="296672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70840">
                <a:tc>
                  <a:txBody>
                    <a:bodyPr/>
                    <a:lstStyle/>
                    <a:p>
                      <a:r>
                        <a:rPr lang="en-US" dirty="0"/>
                        <a:t>Technology</a:t>
                      </a:r>
                    </a:p>
                  </a:txBody>
                  <a:tcPr/>
                </a:tc>
                <a:tc>
                  <a:txBody>
                    <a:bodyPr/>
                    <a:lstStyle/>
                    <a:p>
                      <a:r>
                        <a:rPr lang="en-US" dirty="0"/>
                        <a:t>Purpose</a:t>
                      </a:r>
                    </a:p>
                  </a:txBody>
                  <a:tcPr/>
                </a:tc>
                <a:extLst>
                  <a:ext uri="{0D108BD9-81ED-4DB2-BD59-A6C34878D82A}">
                    <a16:rowId xmlns:a16="http://schemas.microsoft.com/office/drawing/2014/main" val="10000"/>
                  </a:ext>
                </a:extLst>
              </a:tr>
              <a:tr h="370840">
                <a:tc>
                  <a:txBody>
                    <a:bodyPr/>
                    <a:lstStyle/>
                    <a:p>
                      <a:r>
                        <a:rPr lang="en-US" dirty="0"/>
                        <a:t>VLANs</a:t>
                      </a:r>
                    </a:p>
                  </a:txBody>
                  <a:tcPr/>
                </a:tc>
                <a:tc>
                  <a:txBody>
                    <a:bodyPr/>
                    <a:lstStyle/>
                    <a:p>
                      <a:r>
                        <a:rPr lang="en-US" dirty="0"/>
                        <a:t>Traffic segmentation and security</a:t>
                      </a:r>
                    </a:p>
                  </a:txBody>
                  <a:tcPr/>
                </a:tc>
                <a:extLst>
                  <a:ext uri="{0D108BD9-81ED-4DB2-BD59-A6C34878D82A}">
                    <a16:rowId xmlns:a16="http://schemas.microsoft.com/office/drawing/2014/main" val="10001"/>
                  </a:ext>
                </a:extLst>
              </a:tr>
              <a:tr h="370840">
                <a:tc>
                  <a:txBody>
                    <a:bodyPr/>
                    <a:lstStyle/>
                    <a:p>
                      <a:r>
                        <a:rPr lang="en-US" dirty="0"/>
                        <a:t>HSRP</a:t>
                      </a:r>
                    </a:p>
                  </a:txBody>
                  <a:tcPr/>
                </a:tc>
                <a:tc>
                  <a:txBody>
                    <a:bodyPr/>
                    <a:lstStyle/>
                    <a:p>
                      <a:r>
                        <a:rPr lang="en-US" dirty="0"/>
                        <a:t>Gateway redundancy</a:t>
                      </a:r>
                    </a:p>
                  </a:txBody>
                  <a:tcPr/>
                </a:tc>
                <a:extLst>
                  <a:ext uri="{0D108BD9-81ED-4DB2-BD59-A6C34878D82A}">
                    <a16:rowId xmlns:a16="http://schemas.microsoft.com/office/drawing/2014/main" val="10002"/>
                  </a:ext>
                </a:extLst>
              </a:tr>
              <a:tr h="370840">
                <a:tc>
                  <a:txBody>
                    <a:bodyPr/>
                    <a:lstStyle/>
                    <a:p>
                      <a:r>
                        <a:rPr lang="en-US" dirty="0"/>
                        <a:t>SVIs (Layer 3 Switching)</a:t>
                      </a:r>
                    </a:p>
                  </a:txBody>
                  <a:tcPr/>
                </a:tc>
                <a:tc>
                  <a:txBody>
                    <a:bodyPr/>
                    <a:lstStyle/>
                    <a:p>
                      <a:r>
                        <a:rPr lang="en-US" dirty="0"/>
                        <a:t>Inter-VLAN routing</a:t>
                      </a:r>
                    </a:p>
                  </a:txBody>
                  <a:tcPr/>
                </a:tc>
                <a:extLst>
                  <a:ext uri="{0D108BD9-81ED-4DB2-BD59-A6C34878D82A}">
                    <a16:rowId xmlns:a16="http://schemas.microsoft.com/office/drawing/2014/main" val="10003"/>
                  </a:ext>
                </a:extLst>
              </a:tr>
              <a:tr h="370840">
                <a:tc>
                  <a:txBody>
                    <a:bodyPr/>
                    <a:lstStyle/>
                    <a:p>
                      <a:r>
                        <a:rPr lang="en-US" dirty="0"/>
                        <a:t>ACLs</a:t>
                      </a:r>
                    </a:p>
                  </a:txBody>
                  <a:tcPr/>
                </a:tc>
                <a:tc>
                  <a:txBody>
                    <a:bodyPr/>
                    <a:lstStyle/>
                    <a:p>
                      <a:r>
                        <a:rPr lang="en-US" dirty="0"/>
                        <a:t>Restrict unauthorized access</a:t>
                      </a:r>
                    </a:p>
                  </a:txBody>
                  <a:tcPr/>
                </a:tc>
                <a:extLst>
                  <a:ext uri="{0D108BD9-81ED-4DB2-BD59-A6C34878D82A}">
                    <a16:rowId xmlns:a16="http://schemas.microsoft.com/office/drawing/2014/main" val="10004"/>
                  </a:ext>
                </a:extLst>
              </a:tr>
              <a:tr h="370840">
                <a:tc>
                  <a:txBody>
                    <a:bodyPr/>
                    <a:lstStyle/>
                    <a:p>
                      <a:r>
                        <a:rPr lang="en-US" dirty="0" err="1"/>
                        <a:t>QoS</a:t>
                      </a:r>
                      <a:endParaRPr lang="en-US" dirty="0"/>
                    </a:p>
                  </a:txBody>
                  <a:tcPr/>
                </a:tc>
                <a:tc>
                  <a:txBody>
                    <a:bodyPr/>
                    <a:lstStyle/>
                    <a:p>
                      <a:r>
                        <a:rPr lang="en-US" dirty="0"/>
                        <a:t>Prioritize VoIP and critical traffic</a:t>
                      </a:r>
                    </a:p>
                  </a:txBody>
                  <a:tcPr/>
                </a:tc>
                <a:extLst>
                  <a:ext uri="{0D108BD9-81ED-4DB2-BD59-A6C34878D82A}">
                    <a16:rowId xmlns:a16="http://schemas.microsoft.com/office/drawing/2014/main" val="10005"/>
                  </a:ext>
                </a:extLst>
              </a:tr>
              <a:tr h="370840">
                <a:tc>
                  <a:txBody>
                    <a:bodyPr/>
                    <a:lstStyle/>
                    <a:p>
                      <a:r>
                        <a:rPr lang="en-US" dirty="0"/>
                        <a:t>VPN</a:t>
                      </a:r>
                    </a:p>
                  </a:txBody>
                  <a:tcPr/>
                </a:tc>
                <a:tc>
                  <a:txBody>
                    <a:bodyPr/>
                    <a:lstStyle/>
                    <a:p>
                      <a:r>
                        <a:rPr lang="en-US" dirty="0"/>
                        <a:t>Secure remote access</a:t>
                      </a:r>
                    </a:p>
                  </a:txBody>
                  <a:tcPr/>
                </a:tc>
                <a:extLst>
                  <a:ext uri="{0D108BD9-81ED-4DB2-BD59-A6C34878D82A}">
                    <a16:rowId xmlns:a16="http://schemas.microsoft.com/office/drawing/2014/main" val="10006"/>
                  </a:ext>
                </a:extLst>
              </a:tr>
              <a:tr h="370840">
                <a:tc>
                  <a:txBody>
                    <a:bodyPr/>
                    <a:lstStyle/>
                    <a:p>
                      <a:r>
                        <a:rPr lang="en-US" dirty="0"/>
                        <a:t>OSPF</a:t>
                      </a:r>
                    </a:p>
                  </a:txBody>
                  <a:tcPr/>
                </a:tc>
                <a:tc>
                  <a:txBody>
                    <a:bodyPr/>
                    <a:lstStyle/>
                    <a:p>
                      <a:r>
                        <a:rPr lang="en-US" dirty="0"/>
                        <a:t>Routing protocol</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0322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35" name="Rectangle 34">
            <a:extLst>
              <a:ext uri="{FF2B5EF4-FFF2-40B4-BE49-F238E27FC236}">
                <a16:creationId xmlns:a16="http://schemas.microsoft.com/office/drawing/2014/main" id="{58A973E8-C2D4-4C81-8ADE-C5C021A61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65641" y="4473679"/>
            <a:ext cx="9552558" cy="1233251"/>
          </a:xfrm>
        </p:spPr>
        <p:txBody>
          <a:bodyPr vert="horz" lIns="91440" tIns="45720" rIns="91440" bIns="45720" rtlCol="0" anchor="b">
            <a:normAutofit/>
          </a:bodyPr>
          <a:lstStyle/>
          <a:p>
            <a:pPr>
              <a:lnSpc>
                <a:spcPct val="90000"/>
              </a:lnSpc>
            </a:pPr>
            <a:r>
              <a:rPr lang="en-US" sz="4100" b="1"/>
              <a:t>VLAN Configuration on sw layer2</a:t>
            </a:r>
          </a:p>
        </p:txBody>
      </p:sp>
      <p:grpSp>
        <p:nvGrpSpPr>
          <p:cNvPr id="36" name="Group 35">
            <a:extLst>
              <a:ext uri="{FF2B5EF4-FFF2-40B4-BE49-F238E27FC236}">
                <a16:creationId xmlns:a16="http://schemas.microsoft.com/office/drawing/2014/main" id="{A08E251A-5371-4E82-A0F3-2CA0C15AB0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2" name="Straight Connector 21">
              <a:extLst>
                <a:ext uri="{FF2B5EF4-FFF2-40B4-BE49-F238E27FC236}">
                  <a16:creationId xmlns:a16="http://schemas.microsoft.com/office/drawing/2014/main" id="{D31AC21F-237B-4CA8-BC96-29F3607FABE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959094C-A1B3-4AD4-9AAE-0FCDDD7984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5EC0EFA-8A7F-4299-A623-3EE741461B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65D7216-F9AF-42BE-99AD-1904DEF69CB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CDE3349B-AD7F-48C8-9300-D81D694367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 name="Snip Diagonal Corner Rectangle 12">
            <a:extLst>
              <a:ext uri="{FF2B5EF4-FFF2-40B4-BE49-F238E27FC236}">
                <a16:creationId xmlns:a16="http://schemas.microsoft.com/office/drawing/2014/main" id="{E05CABE9-5E7C-4773-BFCD-24B199FA1A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251" y="690851"/>
            <a:ext cx="9615670" cy="3607302"/>
          </a:xfrm>
          <a:prstGeom prst="snip2DiagRect">
            <a:avLst>
              <a:gd name="adj1" fmla="val 12305"/>
              <a:gd name="adj2" fmla="val 0"/>
            </a:avLst>
          </a:prstGeom>
          <a:solidFill>
            <a:schemeClr val="tx1"/>
          </a:solidFill>
          <a:ln>
            <a:solidFill>
              <a:srgbClr val="FFFFFF">
                <a:alpha val="40000"/>
              </a:srgbClr>
            </a:soli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p:cNvPicPr>
            <a:picLocks noGrp="1" noChangeAspect="1"/>
          </p:cNvPicPr>
          <p:nvPr>
            <p:ph idx="1"/>
          </p:nvPr>
        </p:nvPicPr>
        <p:blipFill>
          <a:blip r:embed="rId2">
            <a:extLst>
              <a:ext uri="{28A0092B-C50C-407E-A947-70E740481C1C}">
                <a14:useLocalDpi xmlns:a14="http://schemas.microsoft.com/office/drawing/2010/main" val="0"/>
              </a:ext>
            </a:extLst>
          </a:blip>
          <a:srcRect t="8689" r="1" b="6217"/>
          <a:stretch>
            <a:fillRect/>
          </a:stretch>
        </p:blipFill>
        <p:spPr>
          <a:xfrm>
            <a:off x="834934" y="854087"/>
            <a:ext cx="9290304" cy="3280831"/>
          </a:xfrm>
          <a:custGeom>
            <a:avLst/>
            <a:gdLst/>
            <a:ahLst/>
            <a:cxnLst/>
            <a:rect l="l" t="t" r="r" b="b"/>
            <a:pathLst>
              <a:path w="9290304" h="3280831">
                <a:moveTo>
                  <a:pt x="402071" y="0"/>
                </a:moveTo>
                <a:lnTo>
                  <a:pt x="9290304" y="0"/>
                </a:lnTo>
                <a:lnTo>
                  <a:pt x="9290304" y="2876895"/>
                </a:lnTo>
                <a:lnTo>
                  <a:pt x="8886368" y="3280831"/>
                </a:lnTo>
                <a:lnTo>
                  <a:pt x="0" y="3280831"/>
                </a:lnTo>
                <a:lnTo>
                  <a:pt x="0" y="402071"/>
                </a:lnTo>
                <a:close/>
              </a:path>
            </a:pathLst>
          </a:custGeom>
        </p:spPr>
      </p:pic>
    </p:spTree>
    <p:extLst>
      <p:ext uri="{BB962C8B-B14F-4D97-AF65-F5344CB8AC3E}">
        <p14:creationId xmlns:p14="http://schemas.microsoft.com/office/powerpoint/2010/main" val="2059984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VLAN Configuration Verification: show </a:t>
            </a:r>
            <a:r>
              <a:rPr lang="en-US" b="1" dirty="0" err="1"/>
              <a:t>vlan</a:t>
            </a:r>
            <a:r>
              <a:rPr lang="en-US" b="1" dirty="0"/>
              <a:t> brief Output</a:t>
            </a:r>
            <a:endParaRPr lang="en-US"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4213" y="1389377"/>
            <a:ext cx="4937125" cy="2207583"/>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08663" y="1389377"/>
            <a:ext cx="4933950" cy="2207583"/>
          </a:xfrm>
        </p:spPr>
      </p:pic>
    </p:spTree>
    <p:extLst>
      <p:ext uri="{BB962C8B-B14F-4D97-AF65-F5344CB8AC3E}">
        <p14:creationId xmlns:p14="http://schemas.microsoft.com/office/powerpoint/2010/main" val="2938281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VLAN Configuration</a:t>
            </a:r>
            <a:r>
              <a:rPr lang="ar-EG" b="1" dirty="0"/>
              <a:t> </a:t>
            </a:r>
            <a:r>
              <a:rPr lang="en-US" b="1" dirty="0"/>
              <a:t> on </a:t>
            </a:r>
            <a:r>
              <a:rPr lang="en-US" b="1" dirty="0" err="1"/>
              <a:t>sw</a:t>
            </a:r>
            <a:r>
              <a:rPr lang="en-US" b="1" dirty="0"/>
              <a:t> layer3</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4213" y="1512324"/>
            <a:ext cx="4937125" cy="1961690"/>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08663" y="1512323"/>
            <a:ext cx="4933950" cy="1961691"/>
          </a:xfrm>
        </p:spPr>
      </p:pic>
    </p:spTree>
    <p:extLst>
      <p:ext uri="{BB962C8B-B14F-4D97-AF65-F5344CB8AC3E}">
        <p14:creationId xmlns:p14="http://schemas.microsoft.com/office/powerpoint/2010/main" val="3549557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b="1" dirty="0"/>
              <a:t>VLAN Configuration Verification: show </a:t>
            </a:r>
            <a:r>
              <a:rPr lang="en-US" b="1" dirty="0" err="1"/>
              <a:t>vlan</a:t>
            </a:r>
            <a:r>
              <a:rPr lang="en-US" b="1" dirty="0"/>
              <a:t> brief Output</a:t>
            </a:r>
            <a:endParaRPr lang="en-US" dirty="0"/>
          </a:p>
        </p:txBody>
      </p:sp>
      <p:pic>
        <p:nvPicPr>
          <p:cNvPr id="12" name="Content Placeholder 11"/>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4213" y="1312430"/>
            <a:ext cx="4937125" cy="2361478"/>
          </a:xfrm>
        </p:spPr>
      </p:pic>
      <p:pic>
        <p:nvPicPr>
          <p:cNvPr id="13" name="Content Placeholder 12"/>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08663" y="1312430"/>
            <a:ext cx="4933950" cy="2361477"/>
          </a:xfrm>
        </p:spPr>
      </p:pic>
    </p:spTree>
    <p:extLst>
      <p:ext uri="{BB962C8B-B14F-4D97-AF65-F5344CB8AC3E}">
        <p14:creationId xmlns:p14="http://schemas.microsoft.com/office/powerpoint/2010/main" val="3704224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DHCP Server Configuration on Layer 3 Switch</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212" y="531976"/>
            <a:ext cx="7396174" cy="3614738"/>
          </a:xfrm>
        </p:spPr>
      </p:pic>
    </p:spTree>
    <p:extLst>
      <p:ext uri="{BB962C8B-B14F-4D97-AF65-F5344CB8AC3E}">
        <p14:creationId xmlns:p14="http://schemas.microsoft.com/office/powerpoint/2010/main" val="452849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DHCP Connectivity Verification</a:t>
            </a:r>
            <a:endParaRPr lang="en-US"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4213" y="1026301"/>
            <a:ext cx="4937125" cy="2733077"/>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08663" y="1026301"/>
            <a:ext cx="4933950" cy="2733077"/>
          </a:xfrm>
        </p:spPr>
      </p:pic>
    </p:spTree>
    <p:extLst>
      <p:ext uri="{BB962C8B-B14F-4D97-AF65-F5344CB8AC3E}">
        <p14:creationId xmlns:p14="http://schemas.microsoft.com/office/powerpoint/2010/main" val="4015575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HSRP Implementation on Layer 3 Switches</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4213" y="1089767"/>
            <a:ext cx="4937125" cy="2806803"/>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08663" y="1089767"/>
            <a:ext cx="4933950" cy="2806804"/>
          </a:xfrm>
        </p:spPr>
      </p:pic>
    </p:spTree>
    <p:extLst>
      <p:ext uri="{BB962C8B-B14F-4D97-AF65-F5344CB8AC3E}">
        <p14:creationId xmlns:p14="http://schemas.microsoft.com/office/powerpoint/2010/main" val="3679546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Validating HSRP Operation: Active/Standby Switchover</a:t>
            </a:r>
            <a:endParaRPr lang="en-US"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212" y="506338"/>
            <a:ext cx="5078771" cy="3614738"/>
          </a:xfrm>
        </p:spPr>
      </p:pic>
    </p:spTree>
    <p:extLst>
      <p:ext uri="{BB962C8B-B14F-4D97-AF65-F5344CB8AC3E}">
        <p14:creationId xmlns:p14="http://schemas.microsoft.com/office/powerpoint/2010/main" val="945934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Validating HSRP Operation: Active/Standby Switchover</a:t>
            </a:r>
            <a:endParaRPr lang="en-US"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18798" y="1140430"/>
            <a:ext cx="4867954" cy="2705478"/>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34177" y="685800"/>
            <a:ext cx="4682922" cy="3614738"/>
          </a:xfrm>
        </p:spPr>
      </p:pic>
    </p:spTree>
    <p:extLst>
      <p:ext uri="{BB962C8B-B14F-4D97-AF65-F5344CB8AC3E}">
        <p14:creationId xmlns:p14="http://schemas.microsoft.com/office/powerpoint/2010/main" val="3717266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2E4633-A2D2-0D7E-D1B0-E380F751BFCB}"/>
              </a:ext>
            </a:extLst>
          </p:cNvPr>
          <p:cNvSpPr txBox="1"/>
          <p:nvPr/>
        </p:nvSpPr>
        <p:spPr>
          <a:xfrm>
            <a:off x="3013544" y="5717190"/>
            <a:ext cx="6577716" cy="646331"/>
          </a:xfrm>
          <a:prstGeom prst="rect">
            <a:avLst/>
          </a:prstGeom>
          <a:noFill/>
        </p:spPr>
        <p:txBody>
          <a:bodyPr wrap="square" rtlCol="0">
            <a:spAutoFit/>
          </a:bodyPr>
          <a:lstStyle/>
          <a:p>
            <a:r>
              <a:rPr lang="en-US" sz="3600" dirty="0"/>
              <a:t>OSPF ROUTING PROTOCOL</a:t>
            </a:r>
          </a:p>
        </p:txBody>
      </p:sp>
      <p:pic>
        <p:nvPicPr>
          <p:cNvPr id="5" name="Picture 4">
            <a:extLst>
              <a:ext uri="{FF2B5EF4-FFF2-40B4-BE49-F238E27FC236}">
                <a16:creationId xmlns:a16="http://schemas.microsoft.com/office/drawing/2014/main" id="{74781525-F9C4-822B-DE0C-72202E0F0782}"/>
              </a:ext>
            </a:extLst>
          </p:cNvPr>
          <p:cNvPicPr>
            <a:picLocks noChangeAspect="1"/>
          </p:cNvPicPr>
          <p:nvPr/>
        </p:nvPicPr>
        <p:blipFill>
          <a:blip r:embed="rId2"/>
          <a:stretch>
            <a:fillRect/>
          </a:stretch>
        </p:blipFill>
        <p:spPr>
          <a:xfrm>
            <a:off x="689230" y="424905"/>
            <a:ext cx="4866743" cy="4553585"/>
          </a:xfrm>
          <a:prstGeom prst="rect">
            <a:avLst/>
          </a:prstGeom>
        </p:spPr>
      </p:pic>
      <p:pic>
        <p:nvPicPr>
          <p:cNvPr id="7" name="Picture 6">
            <a:extLst>
              <a:ext uri="{FF2B5EF4-FFF2-40B4-BE49-F238E27FC236}">
                <a16:creationId xmlns:a16="http://schemas.microsoft.com/office/drawing/2014/main" id="{D3AC5E57-F1AB-D587-1818-C4BF2F5A720D}"/>
              </a:ext>
            </a:extLst>
          </p:cNvPr>
          <p:cNvPicPr>
            <a:picLocks noChangeAspect="1"/>
          </p:cNvPicPr>
          <p:nvPr/>
        </p:nvPicPr>
        <p:blipFill>
          <a:blip r:embed="rId3"/>
          <a:stretch>
            <a:fillRect/>
          </a:stretch>
        </p:blipFill>
        <p:spPr>
          <a:xfrm>
            <a:off x="6096000" y="424905"/>
            <a:ext cx="6019800" cy="4553585"/>
          </a:xfrm>
          <a:prstGeom prst="rect">
            <a:avLst/>
          </a:prstGeom>
        </p:spPr>
      </p:pic>
    </p:spTree>
    <p:extLst>
      <p:ext uri="{BB962C8B-B14F-4D97-AF65-F5344CB8AC3E}">
        <p14:creationId xmlns:p14="http://schemas.microsoft.com/office/powerpoint/2010/main" val="3374099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6F0F23-325D-02DA-AF32-94CE72F64B1D}"/>
              </a:ext>
            </a:extLst>
          </p:cNvPr>
          <p:cNvPicPr>
            <a:picLocks noChangeAspect="1"/>
          </p:cNvPicPr>
          <p:nvPr/>
        </p:nvPicPr>
        <p:blipFill>
          <a:blip r:embed="rId2"/>
          <a:stretch>
            <a:fillRect/>
          </a:stretch>
        </p:blipFill>
        <p:spPr>
          <a:xfrm>
            <a:off x="327992" y="150710"/>
            <a:ext cx="11300791" cy="5305873"/>
          </a:xfrm>
          <a:prstGeom prst="rect">
            <a:avLst/>
          </a:prstGeom>
        </p:spPr>
      </p:pic>
      <p:sp>
        <p:nvSpPr>
          <p:cNvPr id="4" name="TextBox 3">
            <a:extLst>
              <a:ext uri="{FF2B5EF4-FFF2-40B4-BE49-F238E27FC236}">
                <a16:creationId xmlns:a16="http://schemas.microsoft.com/office/drawing/2014/main" id="{E8B9CB4F-1403-BB7A-AA0B-25D036F2543E}"/>
              </a:ext>
            </a:extLst>
          </p:cNvPr>
          <p:cNvSpPr txBox="1"/>
          <p:nvPr/>
        </p:nvSpPr>
        <p:spPr>
          <a:xfrm>
            <a:off x="4562061" y="6052931"/>
            <a:ext cx="3353803" cy="369332"/>
          </a:xfrm>
          <a:prstGeom prst="rect">
            <a:avLst/>
          </a:prstGeom>
          <a:noFill/>
        </p:spPr>
        <p:txBody>
          <a:bodyPr wrap="none" rtlCol="0">
            <a:spAutoFit/>
          </a:bodyPr>
          <a:lstStyle/>
          <a:p>
            <a:r>
              <a:rPr lang="en-US" dirty="0"/>
              <a:t>IOT DEVICES FULL CONTROLL</a:t>
            </a:r>
          </a:p>
        </p:txBody>
      </p:sp>
    </p:spTree>
    <p:extLst>
      <p:ext uri="{BB962C8B-B14F-4D97-AF65-F5344CB8AC3E}">
        <p14:creationId xmlns:p14="http://schemas.microsoft.com/office/powerpoint/2010/main" val="1774838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4C3F03-2036-7F42-991D-D0F83A2792A5}"/>
              </a:ext>
            </a:extLst>
          </p:cNvPr>
          <p:cNvSpPr txBox="1"/>
          <p:nvPr/>
        </p:nvSpPr>
        <p:spPr>
          <a:xfrm>
            <a:off x="2330195" y="5313118"/>
            <a:ext cx="7531607" cy="1077218"/>
          </a:xfrm>
          <a:prstGeom prst="rect">
            <a:avLst/>
          </a:prstGeom>
          <a:noFill/>
        </p:spPr>
        <p:txBody>
          <a:bodyPr wrap="square" rtlCol="0">
            <a:spAutoFit/>
          </a:bodyPr>
          <a:lstStyle/>
          <a:p>
            <a:r>
              <a:rPr lang="en-US" sz="3200" dirty="0">
                <a:latin typeface="+mj-lt"/>
              </a:rPr>
              <a:t>Enable NAT Overload to allow internal VLANs access to the internet.</a:t>
            </a:r>
            <a:endParaRPr lang="en-GB" sz="3200" dirty="0">
              <a:latin typeface="+mj-lt"/>
            </a:endParaRPr>
          </a:p>
        </p:txBody>
      </p:sp>
      <p:pic>
        <p:nvPicPr>
          <p:cNvPr id="4" name="Picture 3">
            <a:extLst>
              <a:ext uri="{FF2B5EF4-FFF2-40B4-BE49-F238E27FC236}">
                <a16:creationId xmlns:a16="http://schemas.microsoft.com/office/drawing/2014/main" id="{0ADBF514-5BEA-7493-9F78-412C335AE152}"/>
              </a:ext>
            </a:extLst>
          </p:cNvPr>
          <p:cNvPicPr>
            <a:picLocks noChangeAspect="1"/>
          </p:cNvPicPr>
          <p:nvPr/>
        </p:nvPicPr>
        <p:blipFill>
          <a:blip r:embed="rId2"/>
          <a:stretch>
            <a:fillRect/>
          </a:stretch>
        </p:blipFill>
        <p:spPr>
          <a:xfrm>
            <a:off x="1959122" y="467664"/>
            <a:ext cx="8273755" cy="4630146"/>
          </a:xfrm>
          <a:prstGeom prst="rect">
            <a:avLst/>
          </a:prstGeom>
        </p:spPr>
      </p:pic>
    </p:spTree>
    <p:extLst>
      <p:ext uri="{BB962C8B-B14F-4D97-AF65-F5344CB8AC3E}">
        <p14:creationId xmlns:p14="http://schemas.microsoft.com/office/powerpoint/2010/main" val="3334422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CA4950-ABFB-7C89-A5AD-20D01362AB74}"/>
              </a:ext>
            </a:extLst>
          </p:cNvPr>
          <p:cNvSpPr>
            <a:spLocks noGrp="1"/>
          </p:cNvSpPr>
          <p:nvPr>
            <p:ph type="ctrTitle"/>
          </p:nvPr>
        </p:nvSpPr>
        <p:spPr/>
        <p:txBody>
          <a:bodyPr/>
          <a:lstStyle/>
          <a:p>
            <a:endParaRPr lang="en-US" dirty="0"/>
          </a:p>
        </p:txBody>
      </p:sp>
      <p:sp>
        <p:nvSpPr>
          <p:cNvPr id="5" name="Subtitle 4">
            <a:extLst>
              <a:ext uri="{FF2B5EF4-FFF2-40B4-BE49-F238E27FC236}">
                <a16:creationId xmlns:a16="http://schemas.microsoft.com/office/drawing/2014/main" id="{1A53CA49-5CF5-A22D-95D5-4BCA1DA2356A}"/>
              </a:ext>
            </a:extLst>
          </p:cNvPr>
          <p:cNvSpPr>
            <a:spLocks noGrp="1"/>
          </p:cNvSpPr>
          <p:nvPr>
            <p:ph type="subTitle" idx="1"/>
          </p:nvPr>
        </p:nvSpPr>
        <p:spPr>
          <a:xfrm>
            <a:off x="1167847" y="4399787"/>
            <a:ext cx="7070699" cy="1947333"/>
          </a:xfrm>
        </p:spPr>
        <p:txBody>
          <a:bodyPr>
            <a:normAutofit/>
          </a:bodyPr>
          <a:lstStyle/>
          <a:p>
            <a:r>
              <a:rPr lang="en-US" sz="3200" dirty="0">
                <a:solidFill>
                  <a:schemeClr val="tx1"/>
                </a:solidFill>
              </a:rPr>
              <a:t>Wireless </a:t>
            </a:r>
            <a:r>
              <a:rPr lang="en-US" sz="3200" dirty="0" err="1">
                <a:solidFill>
                  <a:schemeClr val="tx1"/>
                </a:solidFill>
              </a:rPr>
              <a:t>vlan</a:t>
            </a:r>
            <a:r>
              <a:rPr lang="en-US" sz="3200" dirty="0">
                <a:solidFill>
                  <a:schemeClr val="tx1"/>
                </a:solidFill>
              </a:rPr>
              <a:t> 40  access with password  : (Guests-AP123)</a:t>
            </a:r>
          </a:p>
        </p:txBody>
      </p:sp>
      <p:pic>
        <p:nvPicPr>
          <p:cNvPr id="8" name="Picture 7">
            <a:extLst>
              <a:ext uri="{FF2B5EF4-FFF2-40B4-BE49-F238E27FC236}">
                <a16:creationId xmlns:a16="http://schemas.microsoft.com/office/drawing/2014/main" id="{7FF675A4-ED3F-7C2D-EA87-943FED61470B}"/>
              </a:ext>
            </a:extLst>
          </p:cNvPr>
          <p:cNvPicPr>
            <a:picLocks noChangeAspect="1"/>
          </p:cNvPicPr>
          <p:nvPr/>
        </p:nvPicPr>
        <p:blipFill>
          <a:blip r:embed="rId2"/>
          <a:stretch>
            <a:fillRect/>
          </a:stretch>
        </p:blipFill>
        <p:spPr>
          <a:xfrm>
            <a:off x="572495" y="608416"/>
            <a:ext cx="8261404" cy="3265726"/>
          </a:xfrm>
          <a:prstGeom prst="rect">
            <a:avLst/>
          </a:prstGeom>
        </p:spPr>
      </p:pic>
    </p:spTree>
    <p:extLst>
      <p:ext uri="{BB962C8B-B14F-4D97-AF65-F5344CB8AC3E}">
        <p14:creationId xmlns:p14="http://schemas.microsoft.com/office/powerpoint/2010/main" val="397075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BD862-F90D-A7EE-F863-87631FA3B8E8}"/>
              </a:ext>
            </a:extLst>
          </p:cNvPr>
          <p:cNvSpPr>
            <a:spLocks noGrp="1"/>
          </p:cNvSpPr>
          <p:nvPr>
            <p:ph type="title"/>
          </p:nvPr>
        </p:nvSpPr>
        <p:spPr>
          <a:xfrm>
            <a:off x="0" y="1088149"/>
            <a:ext cx="6788426" cy="1507067"/>
          </a:xfrm>
        </p:spPr>
        <p:txBody>
          <a:bodyPr>
            <a:normAutofit fontScale="90000"/>
          </a:bodyPr>
          <a:lstStyle/>
          <a:p>
            <a:r>
              <a:rPr lang="en-US" dirty="0" err="1"/>
              <a:t>Vpn</a:t>
            </a:r>
            <a:r>
              <a:rPr lang="en-US" dirty="0"/>
              <a:t> connectivity from </a:t>
            </a:r>
            <a:br>
              <a:rPr lang="en-US" dirty="0"/>
            </a:br>
            <a:r>
              <a:rPr lang="en-US" dirty="0"/>
              <a:t>laptop 1 through </a:t>
            </a:r>
            <a:br>
              <a:rPr lang="en-US" dirty="0"/>
            </a:br>
            <a:r>
              <a:rPr lang="en-US" dirty="0"/>
              <a:t>isp router to the network</a:t>
            </a:r>
          </a:p>
        </p:txBody>
      </p:sp>
      <p:pic>
        <p:nvPicPr>
          <p:cNvPr id="5" name="Content Placeholder 4" descr="A computer screen shot of a black screen&#10;&#10;AI-generated content may be incorrect.">
            <a:extLst>
              <a:ext uri="{FF2B5EF4-FFF2-40B4-BE49-F238E27FC236}">
                <a16:creationId xmlns:a16="http://schemas.microsoft.com/office/drawing/2014/main" id="{85082CF5-7CDD-F2D5-E57A-020541E6AEBD}"/>
              </a:ext>
            </a:extLst>
          </p:cNvPr>
          <p:cNvPicPr>
            <a:picLocks noGrp="1" noChangeAspect="1"/>
          </p:cNvPicPr>
          <p:nvPr>
            <p:ph idx="1"/>
          </p:nvPr>
        </p:nvPicPr>
        <p:blipFill>
          <a:blip r:embed="rId2"/>
          <a:stretch>
            <a:fillRect/>
          </a:stretch>
        </p:blipFill>
        <p:spPr>
          <a:xfrm>
            <a:off x="5814391" y="0"/>
            <a:ext cx="6377609" cy="6857999"/>
          </a:xfrm>
        </p:spPr>
      </p:pic>
    </p:spTree>
    <p:extLst>
      <p:ext uri="{BB962C8B-B14F-4D97-AF65-F5344CB8AC3E}">
        <p14:creationId xmlns:p14="http://schemas.microsoft.com/office/powerpoint/2010/main" val="3147212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5EC8-A0CA-A965-E467-6204F252BD28}"/>
              </a:ext>
            </a:extLst>
          </p:cNvPr>
          <p:cNvSpPr>
            <a:spLocks noGrp="1"/>
          </p:cNvSpPr>
          <p:nvPr>
            <p:ph type="title"/>
          </p:nvPr>
        </p:nvSpPr>
        <p:spPr>
          <a:xfrm>
            <a:off x="177317" y="819793"/>
            <a:ext cx="8534400" cy="1507067"/>
          </a:xfrm>
        </p:spPr>
        <p:txBody>
          <a:bodyPr/>
          <a:lstStyle/>
          <a:p>
            <a:r>
              <a:rPr lang="en-US" dirty="0"/>
              <a:t>Ssh /telnet </a:t>
            </a:r>
            <a:br>
              <a:rPr lang="en-US" dirty="0"/>
            </a:br>
            <a:r>
              <a:rPr lang="en-US" dirty="0"/>
              <a:t>configuration </a:t>
            </a:r>
          </a:p>
        </p:txBody>
      </p:sp>
      <p:pic>
        <p:nvPicPr>
          <p:cNvPr id="5" name="Content Placeholder 4">
            <a:extLst>
              <a:ext uri="{FF2B5EF4-FFF2-40B4-BE49-F238E27FC236}">
                <a16:creationId xmlns:a16="http://schemas.microsoft.com/office/drawing/2014/main" id="{D0E4293A-C1AB-01DC-AFFB-569864DE3F8A}"/>
              </a:ext>
            </a:extLst>
          </p:cNvPr>
          <p:cNvPicPr>
            <a:picLocks noGrp="1" noChangeAspect="1"/>
          </p:cNvPicPr>
          <p:nvPr>
            <p:ph idx="1"/>
          </p:nvPr>
        </p:nvPicPr>
        <p:blipFill>
          <a:blip r:embed="rId2"/>
          <a:stretch>
            <a:fillRect/>
          </a:stretch>
        </p:blipFill>
        <p:spPr>
          <a:xfrm>
            <a:off x="6754187" y="0"/>
            <a:ext cx="5437813" cy="6858000"/>
          </a:xfrm>
        </p:spPr>
      </p:pic>
    </p:spTree>
    <p:extLst>
      <p:ext uri="{BB962C8B-B14F-4D97-AF65-F5344CB8AC3E}">
        <p14:creationId xmlns:p14="http://schemas.microsoft.com/office/powerpoint/2010/main" val="672588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1DD12D-E78D-5D26-1FCB-1081D6E1A48F}"/>
              </a:ext>
            </a:extLst>
          </p:cNvPr>
          <p:cNvSpPr>
            <a:spLocks noGrp="1"/>
          </p:cNvSpPr>
          <p:nvPr>
            <p:ph idx="1"/>
          </p:nvPr>
        </p:nvSpPr>
        <p:spPr/>
        <p:txBody>
          <a:bodyPr>
            <a:normAutofit/>
          </a:bodyPr>
          <a:lstStyle/>
          <a:p>
            <a:pPr lvl="1"/>
            <a:r>
              <a:rPr lang="en-US" sz="9400" dirty="0"/>
              <a:t>THANKS!</a:t>
            </a:r>
          </a:p>
        </p:txBody>
      </p:sp>
    </p:spTree>
    <p:extLst>
      <p:ext uri="{BB962C8B-B14F-4D97-AF65-F5344CB8AC3E}">
        <p14:creationId xmlns:p14="http://schemas.microsoft.com/office/powerpoint/2010/main" val="868529008"/>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90632A49867941BE024A5E71BABA7E" ma:contentTypeVersion="5" ma:contentTypeDescription="Create a new document." ma:contentTypeScope="" ma:versionID="91d9ad8b001ac68894b8841d9dac91a2">
  <xsd:schema xmlns:xsd="http://www.w3.org/2001/XMLSchema" xmlns:xs="http://www.w3.org/2001/XMLSchema" xmlns:p="http://schemas.microsoft.com/office/2006/metadata/properties" xmlns:ns3="85ac4706-fde0-4267-9353-b03a52297387" targetNamespace="http://schemas.microsoft.com/office/2006/metadata/properties" ma:root="true" ma:fieldsID="154e63a52335310b23762aadc35c1fee" ns3:_="">
    <xsd:import namespace="85ac4706-fde0-4267-9353-b03a5229738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c4706-fde0-4267-9353-b03a522973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85ac4706-fde0-4267-9353-b03a5229738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A99DD0-58C3-40C8-9382-9D32771B37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c4706-fde0-4267-9353-b03a522973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79218C-C7AE-475B-B674-535E3D1628FA}">
  <ds:schemaRefs>
    <ds:schemaRef ds:uri="http://purl.org/dc/elements/1.1/"/>
    <ds:schemaRef ds:uri="http://schemas.microsoft.com/office/infopath/2007/PartnerControls"/>
    <ds:schemaRef ds:uri="85ac4706-fde0-4267-9353-b03a52297387"/>
    <ds:schemaRef ds:uri="http://schemas.microsoft.com/office/2006/documentManagement/types"/>
    <ds:schemaRef ds:uri="http://purl.org/dc/dcmitype/"/>
    <ds:schemaRef ds:uri="http://www.w3.org/XML/1998/namespace"/>
    <ds:schemaRef ds:uri="http://purl.org/dc/term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175707D-9888-4F41-A20D-28528043D2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163</TotalTime>
  <Words>323</Words>
  <Application>Microsoft Office PowerPoint</Application>
  <PresentationFormat>Widescreen</PresentationFormat>
  <Paragraphs>78</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Century Gothic</vt:lpstr>
      <vt:lpstr>Wingdings 3</vt:lpstr>
      <vt:lpstr>Slice</vt:lpstr>
      <vt:lpstr>Developing a Smart Office Network Solution </vt:lpstr>
      <vt:lpstr>We propose a secure and scalable Smart Office Network for ByteWave Technologies, a software development company. The network is designed to:  Ensure high performance and reliable connectivity  Support IoT integration (smart lighting, climate control, security systems)  Enhance productivity, collaboration, and employee comfort  Provide advanced security (VPN, Zero Trust)  Allow remote monitoring and future scalability</vt:lpstr>
      <vt:lpstr>Network diagram</vt:lpstr>
      <vt:lpstr>Topology Components</vt:lpstr>
      <vt:lpstr>VLANS</vt:lpstr>
      <vt:lpstr>Protocols &amp; Technologies</vt:lpstr>
      <vt:lpstr>VLAN Configuration on sw layer2</vt:lpstr>
      <vt:lpstr>VLAN Configuration Verification: show vlan brief Output</vt:lpstr>
      <vt:lpstr>VLAN Configuration  on sw layer3</vt:lpstr>
      <vt:lpstr>VLAN Configuration Verification: show vlan brief Output</vt:lpstr>
      <vt:lpstr>DHCP Server Configuration on Layer 3 Switch</vt:lpstr>
      <vt:lpstr>DHCP Connectivity Verification</vt:lpstr>
      <vt:lpstr>HSRP Implementation on Layer 3 Switches</vt:lpstr>
      <vt:lpstr>Validating HSRP Operation: Active/Standby Switchover</vt:lpstr>
      <vt:lpstr>Validating HSRP Operation: Active/Standby Switchover</vt:lpstr>
      <vt:lpstr>PowerPoint Presentation</vt:lpstr>
      <vt:lpstr>PowerPoint Presentation</vt:lpstr>
      <vt:lpstr>PowerPoint Presentation</vt:lpstr>
      <vt:lpstr>PowerPoint Presentation</vt:lpstr>
      <vt:lpstr>Vpn connectivity from  laptop 1 through  isp router to the network</vt:lpstr>
      <vt:lpstr>Ssh /telnet  configuration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sata</dc:creator>
  <cp:lastModifiedBy>Mai Emad</cp:lastModifiedBy>
  <cp:revision>13</cp:revision>
  <dcterms:created xsi:type="dcterms:W3CDTF">2025-05-17T23:35:25Z</dcterms:created>
  <dcterms:modified xsi:type="dcterms:W3CDTF">2025-05-18T15:55:55Z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0x0101007690632A49867941BE024A5E71BABA7E</vt:lpwstr>
  </property>
</Properties>
</file>